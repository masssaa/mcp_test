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0000-0000-00000000000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从 MCP 到 Skill 到 Agent 全流程落地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60 分钟课程</a:t>
            </a:r>
            <a:endParaRPr lang="zh-CN"/>
          </a:p>
          <a:p>
            <a:pPr marL="342900" indent="-171450" lvl="0"/>
            <a:r>
              <a:rPr lang="zh-CN" sz="2200"/>
              <a:t>• 覆盖：MCP、Skill、模型加载、提示词、测试全流程 Agent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学习目标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理解 MCP 在架构中的位置</a:t>
            </a:r>
            <a:endParaRPr lang="zh-CN"/>
          </a:p>
          <a:p>
            <a:pPr marL="342900" indent="-171450" lvl="0"/>
            <a:r>
              <a:rPr lang="zh-CN" sz="2200"/>
              <a:t>• 掌握 Skill 设计与复用</a:t>
            </a:r>
            <a:endParaRPr lang="zh-CN"/>
          </a:p>
          <a:p>
            <a:pPr marL="342900" indent="-171450" lvl="0"/>
            <a:r>
              <a:rPr lang="zh-CN" sz="2200"/>
              <a:t>• 会做模型路由与提示词模板</a:t>
            </a:r>
            <a:endParaRPr lang="zh-CN"/>
          </a:p>
          <a:p>
            <a:pPr marL="342900" indent="-171450" lvl="0"/>
            <a:r>
              <a:rPr lang="zh-CN" sz="2200"/>
              <a:t>• 可落地测试全流程 Agent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全局架构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用户请求 -&gt; Orchestrator</a:t>
            </a:r>
            <a:endParaRPr lang="zh-CN"/>
          </a:p>
          <a:p>
            <a:pPr marL="342900" indent="-171450" lvl="0"/>
            <a:r>
              <a:rPr lang="zh-CN" sz="2200"/>
              <a:t>• MCP 统一接入 Tools/Resources</a:t>
            </a:r>
            <a:endParaRPr lang="zh-CN"/>
          </a:p>
          <a:p>
            <a:pPr marL="342900" indent="-171450" lvl="0"/>
            <a:r>
              <a:rPr lang="zh-CN" sz="2200"/>
              <a:t>• Skill 固化执行方法</a:t>
            </a:r>
            <a:endParaRPr lang="zh-CN"/>
          </a:p>
          <a:p>
            <a:pPr marL="342900" indent="-171450" lvl="0"/>
            <a:r>
              <a:rPr lang="zh-CN" sz="2200"/>
              <a:t>• Model Router 选择模型</a:t>
            </a:r>
            <a:endParaRPr lang="zh-CN"/>
          </a:p>
          <a:p>
            <a:pPr marL="342900" indent="-171450" lvl="0"/>
            <a:r>
              <a:rPr lang="zh-CN" sz="2200"/>
              <a:t>• 输出可执行结论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为什么是 MCP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标准化工具接入</a:t>
            </a:r>
            <a:endParaRPr lang="zh-CN"/>
          </a:p>
          <a:p>
            <a:pPr marL="342900" indent="-171450" lvl="0"/>
            <a:r>
              <a:rPr lang="zh-CN" sz="2200"/>
              <a:t>• 降低系统耦合</a:t>
            </a:r>
            <a:endParaRPr lang="zh-CN"/>
          </a:p>
          <a:p>
            <a:pPr marL="342900" indent="-171450" lvl="0"/>
            <a:r>
              <a:rPr lang="zh-CN" sz="2200"/>
              <a:t>• 增强可观测与可回放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MCP 核心对象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Tool：执行动作</a:t>
            </a:r>
            <a:endParaRPr lang="zh-CN"/>
          </a:p>
          <a:p>
            <a:pPr marL="342900" indent="-171450" lvl="0"/>
            <a:r>
              <a:rPr lang="zh-CN" sz="2200"/>
              <a:t>• Resource：读取上下文</a:t>
            </a:r>
            <a:endParaRPr lang="zh-CN"/>
          </a:p>
          <a:p>
            <a:pPr marL="342900" indent="-171450" lvl="0"/>
            <a:r>
              <a:rPr lang="zh-CN" sz="2200"/>
              <a:t>• Prompt/Template：复用提示片段</a:t>
            </a:r>
            <a:endParaRPr lang="zh-CN"/>
          </a:p>
          <a:p>
            <a:pPr marL="342900" indent="-171450" lvl="0"/>
            <a:r>
              <a:rPr lang="zh-CN" sz="2200"/>
              <a:t>• Session Context：会话状态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Skill 的定义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Skill = 方法论 + 步骤 + 验收标准</a:t>
            </a:r>
            <a:endParaRPr lang="zh-CN"/>
          </a:p>
          <a:p>
            <a:pPr marL="342900" indent="-171450" lvl="0"/>
            <a:r>
              <a:rPr lang="zh-CN" sz="2200"/>
              <a:t>• Skill 是能力模块，Agent 是总控系统</a:t>
            </a:r>
            <a:endParaRPr lang="zh-CN"/>
          </a:p>
          <a:p>
            <a:pPr marL="342900" indent="-171450" lvl="0"/>
            <a:r>
              <a:rPr lang="zh-CN" sz="2200"/>
              <a:t>• 先写 SKILL.md 再写脚本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Skill 最小结构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SKILL.md</a:t>
            </a:r>
            <a:endParaRPr lang="zh-CN"/>
          </a:p>
          <a:p>
            <a:pPr marL="342900" indent="-171450" lvl="0"/>
            <a:r>
              <a:rPr lang="zh-CN" sz="2200"/>
              <a:t>• scripts/</a:t>
            </a:r>
            <a:endParaRPr lang="zh-CN"/>
          </a:p>
          <a:p>
            <a:pPr marL="342900" indent="-171450" lvl="0"/>
            <a:r>
              <a:rPr lang="zh-CN" sz="2200"/>
              <a:t>• references/（可选）</a:t>
            </a:r>
            <a:endParaRPr lang="zh-CN"/>
          </a:p>
          <a:p>
            <a:pPr marL="342900" indent="-171450" lvl="0"/>
            <a:r>
              <a:rPr lang="zh-CN" sz="2200"/>
              <a:t>• 清晰输入输出与边界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模型加载策略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按质量/速度/成本选择</a:t>
            </a:r>
            <a:endParaRPr lang="zh-CN"/>
          </a:p>
          <a:p>
            <a:pPr marL="342900" indent="-171450" lvl="0"/>
            <a:r>
              <a:rPr lang="zh-CN" sz="2200"/>
              <a:t>• 轻任务走小模型</a:t>
            </a:r>
            <a:endParaRPr lang="zh-CN"/>
          </a:p>
          <a:p>
            <a:pPr marL="342900" indent="-171450" lvl="0"/>
            <a:r>
              <a:rPr lang="zh-CN" sz="2200"/>
              <a:t>• 复杂分析走大模型</a:t>
            </a:r>
            <a:endParaRPr lang="zh-CN"/>
          </a:p>
          <a:p>
            <a:pPr marL="342900" indent="-171450" lvl="0"/>
            <a:r>
              <a:rPr lang="zh-CN" sz="2200"/>
              <a:t>• 失败自动升级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模型路由流程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任务分类</a:t>
            </a:r>
            <a:endParaRPr lang="zh-CN"/>
          </a:p>
          <a:p>
            <a:pPr marL="342900" indent="-171450" lvl="0"/>
            <a:r>
              <a:rPr lang="zh-CN" sz="2200"/>
              <a:t>• 进入对应工作流</a:t>
            </a:r>
            <a:endParaRPr lang="zh-CN"/>
          </a:p>
          <a:p>
            <a:pPr marL="342900" indent="-171450" lvl="0"/>
            <a:r>
              <a:rPr lang="zh-CN" sz="2200"/>
              <a:t>• 失败重试升级</a:t>
            </a:r>
            <a:endParaRPr lang="zh-CN"/>
          </a:p>
          <a:p>
            <a:pPr marL="342900" indent="-171450" lvl="0"/>
            <a:r>
              <a:rPr lang="zh-CN" sz="2200"/>
              <a:t>• 统一格式输出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提示词三层结构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系统层：角色与边界</a:t>
            </a:r>
            <a:endParaRPr lang="zh-CN"/>
          </a:p>
          <a:p>
            <a:pPr marL="342900" indent="-171450" lvl="0"/>
            <a:r>
              <a:rPr lang="zh-CN" sz="2200"/>
              <a:t>• 任务层：目标与输入</a:t>
            </a:r>
            <a:endParaRPr lang="zh-CN"/>
          </a:p>
          <a:p>
            <a:pPr marL="342900" indent="-171450" lvl="0"/>
            <a:r>
              <a:rPr lang="zh-CN" sz="2200"/>
              <a:t>• 执行层：步骤与输出格式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提示词模板关键项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目标明确</a:t>
            </a:r>
            <a:endParaRPr lang="zh-CN"/>
          </a:p>
          <a:p>
            <a:pPr marL="342900" indent="-171450" lvl="0"/>
            <a:r>
              <a:rPr lang="zh-CN" sz="2200"/>
              <a:t>• 步骤可执行</a:t>
            </a:r>
            <a:endParaRPr lang="zh-CN"/>
          </a:p>
          <a:p>
            <a:pPr marL="342900" indent="-171450" lvl="0"/>
            <a:r>
              <a:rPr lang="zh-CN" sz="2200"/>
              <a:t>• 输出结构固定</a:t>
            </a:r>
            <a:endParaRPr lang="zh-CN"/>
          </a:p>
          <a:p>
            <a:pPr marL="342900" indent="-171450" lvl="0"/>
            <a:r>
              <a:rPr lang="zh-CN" sz="2200"/>
              <a:t>• 异常分支可处理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常见失败与修正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输出漂移 -&gt; 固定模板</a:t>
            </a:r>
            <a:endParaRPr lang="zh-CN"/>
          </a:p>
          <a:p>
            <a:pPr marL="342900" indent="-171450" lvl="0"/>
            <a:r>
              <a:rPr lang="zh-CN" sz="2200"/>
              <a:t>• 过度执行 -&gt; 增加约束</a:t>
            </a:r>
            <a:endParaRPr lang="zh-CN"/>
          </a:p>
          <a:p>
            <a:pPr marL="342900" indent="-171450" lvl="0"/>
            <a:r>
              <a:rPr lang="zh-CN" sz="2200"/>
              <a:t>• 幻觉命令 -&gt; 工具白名单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落地案例目标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测试全流程 Skill Agent</a:t>
            </a:r>
            <a:endParaRPr lang="zh-CN"/>
          </a:p>
          <a:p>
            <a:pPr marL="342900" indent="-171450" lvl="0"/>
            <a:r>
              <a:rPr lang="zh-CN" sz="2200"/>
              <a:t>• 自动发现测试命令</a:t>
            </a:r>
            <a:endParaRPr lang="zh-CN"/>
          </a:p>
          <a:p>
            <a:pPr marL="342900" indent="-171450" lvl="0"/>
            <a:r>
              <a:rPr lang="zh-CN" sz="2200"/>
              <a:t>• 自动执行、归因、建议、回归</a:t>
            </a:r>
            <a:endParaRPr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Skill 输入与输出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输入：repo_path / scope / auto_fix</a:t>
            </a:r>
            <a:endParaRPr lang="zh-CN"/>
          </a:p>
          <a:p>
            <a:pPr marL="342900" indent="-171450" lvl="0"/>
            <a:r>
              <a:rPr lang="zh-CN" sz="2200"/>
              <a:t>• 输出：摘要、失败清单、根因、修复计划、回归结果</a:t>
            </a:r>
            <a:endParaRPr 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课堂演示流程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打开失败测试仓库</a:t>
            </a:r>
            <a:endParaRPr lang="zh-CN"/>
          </a:p>
          <a:p>
            <a:pPr marL="342900" indent="-171450" lvl="0"/>
            <a:r>
              <a:rPr lang="zh-CN" sz="2200"/>
              <a:t>• 触发 test-e2e-skill</a:t>
            </a:r>
            <a:endParaRPr lang="zh-CN"/>
          </a:p>
          <a:p>
            <a:pPr marL="342900" indent="-171450" lvl="0"/>
            <a:r>
              <a:rPr lang="zh-CN" sz="2200"/>
              <a:t>• 观察调用链与结论</a:t>
            </a:r>
            <a:endParaRPr lang="zh-CN"/>
          </a:p>
          <a:p>
            <a:pPr marL="342900" indent="-171450" lvl="0"/>
            <a:r>
              <a:rPr lang="zh-CN" sz="2200"/>
              <a:t>• 修复并回归验证</a:t>
            </a:r>
            <a:endParaRPr 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示例提示词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角色：测试自动化代理</a:t>
            </a:r>
            <a:endParaRPr lang="zh-CN"/>
          </a:p>
          <a:p>
            <a:pPr marL="342900" indent="-171450" lvl="0"/>
            <a:r>
              <a:rPr lang="zh-CN" sz="2200"/>
              <a:t>• 步骤：发现命令-&gt;执行-&gt;归因-&gt;修复建议-&gt;回归</a:t>
            </a:r>
            <a:endParaRPr lang="zh-CN"/>
          </a:p>
          <a:p>
            <a:pPr marL="342900" indent="-171450" lvl="0"/>
            <a:r>
              <a:rPr lang="zh-CN" sz="2200"/>
              <a:t>• 约束：禁止破坏性操作与无关改动</a:t>
            </a:r>
            <a:endParaRPr 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质量门禁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可复现</a:t>
            </a:r>
            <a:endParaRPr lang="zh-CN"/>
          </a:p>
          <a:p>
            <a:pPr marL="342900" indent="-171450" lvl="0"/>
            <a:r>
              <a:rPr lang="zh-CN" sz="2200"/>
              <a:t>• 可解释</a:t>
            </a:r>
            <a:endParaRPr lang="zh-CN"/>
          </a:p>
          <a:p>
            <a:pPr marL="342900" indent="-171450" lvl="0"/>
            <a:r>
              <a:rPr lang="zh-CN" sz="2200"/>
              <a:t>• 可执行</a:t>
            </a:r>
            <a:endParaRPr lang="zh-CN"/>
          </a:p>
          <a:p>
            <a:pPr marL="342900" indent="-171450" lvl="0"/>
            <a:r>
              <a:rPr lang="zh-CN" sz="2200"/>
              <a:t>• 可回归</a:t>
            </a:r>
            <a:endParaRPr 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风险治理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白名单与沙箱执行</a:t>
            </a:r>
            <a:endParaRPr lang="zh-CN"/>
          </a:p>
          <a:p>
            <a:pPr marL="342900" indent="-171450" lvl="0"/>
            <a:r>
              <a:rPr lang="zh-CN" sz="2200"/>
              <a:t>• 数据脱敏与最小权限</a:t>
            </a:r>
            <a:endParaRPr lang="zh-CN"/>
          </a:p>
          <a:p>
            <a:pPr marL="342900" indent="-171450" lvl="0"/>
            <a:r>
              <a:rPr lang="zh-CN" sz="2200"/>
              <a:t>• 小步提交与可回滚</a:t>
            </a:r>
            <a:endParaRPr 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团队落地路径（4 周）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第 1 周：场景梳理</a:t>
            </a:r>
            <a:endParaRPr lang="zh-CN"/>
          </a:p>
          <a:p>
            <a:pPr marL="342900" indent="-171450" lvl="0"/>
            <a:r>
              <a:rPr lang="zh-CN" sz="2200"/>
              <a:t>• 第 2 周：封装 3 个 Skill</a:t>
            </a:r>
            <a:endParaRPr lang="zh-CN"/>
          </a:p>
          <a:p>
            <a:pPr marL="342900" indent="-171450" lvl="0"/>
            <a:r>
              <a:rPr lang="zh-CN" sz="2200"/>
              <a:t>• 第 3 周：接入路由与观测</a:t>
            </a:r>
            <a:endParaRPr lang="zh-CN"/>
          </a:p>
          <a:p>
            <a:pPr marL="342900" indent="-171450" lvl="0"/>
            <a:r>
              <a:rPr lang="zh-CN" sz="2200"/>
              <a:t>• 第 4 周：灰度上线</a:t>
            </a:r>
            <a:endParaRPr 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指标体系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效率：平均处理时长</a:t>
            </a:r>
            <a:endParaRPr lang="zh-CN"/>
          </a:p>
          <a:p>
            <a:pPr marL="342900" indent="-171450" lvl="0"/>
            <a:r>
              <a:rPr lang="zh-CN" sz="2200"/>
              <a:t>• 质量：一次通过率/回归通过率</a:t>
            </a:r>
            <a:endParaRPr lang="zh-CN"/>
          </a:p>
          <a:p>
            <a:pPr marL="342900" indent="-171450" lvl="0"/>
            <a:r>
              <a:rPr lang="zh-CN" sz="2200"/>
              <a:t>• 成本：任务成本</a:t>
            </a:r>
            <a:endParaRPr lang="zh-CN"/>
          </a:p>
          <a:p>
            <a:pPr marL="342900" indent="-171450" lvl="0"/>
            <a:r>
              <a:rPr lang="zh-CN" sz="2200"/>
              <a:t>• 稳定性：重试成功率</a:t>
            </a:r>
            <a:endParaRPr 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课堂练习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选一个测试痛点</a:t>
            </a:r>
            <a:endParaRPr lang="zh-CN"/>
          </a:p>
          <a:p>
            <a:pPr marL="342900" indent="-171450" lvl="0"/>
            <a:r>
              <a:rPr lang="zh-CN" sz="2200"/>
              <a:t>• 定义输入输出与验收标准</a:t>
            </a:r>
            <a:endParaRPr lang="zh-CN"/>
          </a:p>
          <a:p>
            <a:pPr marL="342900" indent="-171450" lvl="0"/>
            <a:r>
              <a:rPr lang="zh-CN" sz="2200"/>
              <a:t>• 设计路由规则与提示词</a:t>
            </a:r>
            <a:endParaRPr 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结论回顾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MCP 解决怎么连</a:t>
            </a:r>
            <a:endParaRPr lang="zh-CN"/>
          </a:p>
          <a:p>
            <a:pPr marL="342900" indent="-171450" lvl="0"/>
            <a:r>
              <a:rPr lang="zh-CN" sz="2200"/>
              <a:t>• Skill 解决怎么做</a:t>
            </a:r>
            <a:endParaRPr lang="zh-CN"/>
          </a:p>
          <a:p>
            <a:pPr marL="342900" indent="-171450" lvl="0"/>
            <a:r>
              <a:rPr lang="zh-CN" sz="2200"/>
              <a:t>• 模型路由解决用谁做</a:t>
            </a:r>
            <a:endParaRPr lang="zh-CN"/>
          </a:p>
          <a:p>
            <a:pPr marL="342900" indent="-171450" lvl="0"/>
            <a:r>
              <a:rPr lang="zh-CN" sz="2200"/>
              <a:t>• 提示词解决产出形态</a:t>
            </a:r>
            <a:endParaRPr 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Q&amp;A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建议先单场景做深</a:t>
            </a:r>
            <a:endParaRPr lang="zh-CN"/>
          </a:p>
          <a:p>
            <a:pPr marL="342900" indent="-171450" lvl="0"/>
            <a:r>
              <a:rPr lang="zh-CN" sz="2200"/>
              <a:t>• 先固定结构化输出</a:t>
            </a:r>
            <a:endParaRPr lang="zh-CN"/>
          </a:p>
          <a:p>
            <a:pPr marL="342900" indent="-171450" lvl="0"/>
            <a:r>
              <a:rPr lang="zh-CN" sz="2200"/>
              <a:t>• 先观测后自动修复</a:t>
            </a:r>
            <a:endParaRPr 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000" b="1"/>
              <a:t>附录：test-e2e-skill 模板</a:t>
            </a:r>
            <a:endParaRPr lang="zh-CN"/>
          </a:p>
        </p:txBody>
      </p:sp>
      <p:sp>
        <p:nvSpPr>
          <p:cNvPr id="3" name="Content"/>
          <p:cNvSpPr txBox="1"/>
          <p:nvPr/>
        </p:nvSpPr>
        <p:spPr>
          <a:xfrm>
            <a:off x="685800" y="1828800"/>
            <a:ext cx="114300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 lvl="0"/>
            <a:r>
              <a:rPr lang="zh-CN" sz="2200"/>
              <a:t>• Trigger / Input / Steps / Output / Constraints</a:t>
            </a:r>
            <a:endParaRPr lang="zh-CN"/>
          </a:p>
          <a:p>
            <a:pPr marL="342900" indent="-171450" lvl="0"/>
            <a:r>
              <a:rPr lang="zh-CN" sz="2200"/>
              <a:t>• 保证可追溯、可回滚、可验证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24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MCP 到 Skill 到 Agent 全流程落地</dc:title>
  <dc:creator>Codex</dc:creator>
  <cp:lastModifiedBy>Codex</cp:lastModifiedBy>
  <dcterms:created xsi:type="dcterms:W3CDTF">2026-03-28T06:29:17Z</dcterms:created>
  <dcterms:modified xsi:type="dcterms:W3CDTF">2026-03-28T06:29:17Z</dcterms:modified>
</cp:coreProperties>
</file>